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00000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8181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" name="Shap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F0F1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2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76875" y="6558991"/>
            <a:ext cx="1071845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69877" y="6232199"/>
            <a:ext cx="258622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nipun1015/UCS503P-202627-Athena-Project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1"/>
          <p:cNvSpPr txBox="1"/>
          <p:nvPr/>
        </p:nvSpPr>
        <p:spPr>
          <a:xfrm>
            <a:off x="661473" y="632123"/>
            <a:ext cx="6296864" cy="944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sz="2900">
                <a:solidFill>
                  <a:srgbClr val="FBF3FA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Athena: AI-Powered Campus Query Bot</a:t>
            </a:r>
          </a:p>
        </p:txBody>
      </p:sp>
      <p:sp>
        <p:nvSpPr>
          <p:cNvPr id="31" name="Text 2"/>
          <p:cNvSpPr txBox="1"/>
          <p:nvPr/>
        </p:nvSpPr>
        <p:spPr>
          <a:xfrm>
            <a:off x="661473" y="1758452"/>
            <a:ext cx="6296864" cy="653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defRPr sz="1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A centralized AI assistant that gives students verified, grounded answers from their institution's own knowledge base — no more searching across scattered websites, PDFs, and social media.</a:t>
            </a:r>
          </a:p>
        </p:txBody>
      </p:sp>
      <p:sp>
        <p:nvSpPr>
          <p:cNvPr id="32" name="Shape 3"/>
          <p:cNvSpPr/>
          <p:nvPr/>
        </p:nvSpPr>
        <p:spPr>
          <a:xfrm>
            <a:off x="661474" y="2547541"/>
            <a:ext cx="6296862" cy="828873"/>
          </a:xfrm>
          <a:prstGeom prst="roundRect">
            <a:avLst>
              <a:gd name="adj" fmla="val 2737"/>
            </a:avLst>
          </a:prstGeom>
          <a:solidFill>
            <a:srgbClr val="2E2E2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" name="Text 4"/>
          <p:cNvSpPr txBox="1"/>
          <p:nvPr/>
        </p:nvSpPr>
        <p:spPr>
          <a:xfrm>
            <a:off x="812678" y="2698750"/>
            <a:ext cx="81314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4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Query Bot</a:t>
            </a:r>
          </a:p>
        </p:txBody>
      </p:sp>
      <p:sp>
        <p:nvSpPr>
          <p:cNvPr id="34" name="Text 5"/>
          <p:cNvSpPr txBox="1"/>
          <p:nvPr/>
        </p:nvSpPr>
        <p:spPr>
          <a:xfrm>
            <a:off x="812678" y="3007517"/>
            <a:ext cx="47966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Natural-language questions, AI answers grounded in verified institutional data</a:t>
            </a:r>
          </a:p>
        </p:txBody>
      </p:sp>
      <p:sp>
        <p:nvSpPr>
          <p:cNvPr id="35" name="Shape 6"/>
          <p:cNvSpPr/>
          <p:nvPr/>
        </p:nvSpPr>
        <p:spPr>
          <a:xfrm>
            <a:off x="661474" y="3497362"/>
            <a:ext cx="6296862" cy="828875"/>
          </a:xfrm>
          <a:prstGeom prst="roundRect">
            <a:avLst>
              <a:gd name="adj" fmla="val 2737"/>
            </a:avLst>
          </a:prstGeom>
          <a:solidFill>
            <a:srgbClr val="2E2E2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" name="Text 7"/>
          <p:cNvSpPr txBox="1"/>
          <p:nvPr/>
        </p:nvSpPr>
        <p:spPr>
          <a:xfrm>
            <a:off x="812678" y="3648571"/>
            <a:ext cx="156428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4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Campus Navigation</a:t>
            </a:r>
          </a:p>
        </p:txBody>
      </p:sp>
      <p:sp>
        <p:nvSpPr>
          <p:cNvPr id="37" name="Text 8"/>
          <p:cNvSpPr txBox="1"/>
          <p:nvPr/>
        </p:nvSpPr>
        <p:spPr>
          <a:xfrm>
            <a:off x="812679" y="3957339"/>
            <a:ext cx="457839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Interactive 2D map — find classrooms, departments, and venues instantly</a:t>
            </a:r>
          </a:p>
        </p:txBody>
      </p:sp>
      <p:sp>
        <p:nvSpPr>
          <p:cNvPr id="38" name="Shape 9"/>
          <p:cNvSpPr/>
          <p:nvPr/>
        </p:nvSpPr>
        <p:spPr>
          <a:xfrm>
            <a:off x="661474" y="4447182"/>
            <a:ext cx="6296862" cy="828875"/>
          </a:xfrm>
          <a:prstGeom prst="roundRect">
            <a:avLst>
              <a:gd name="adj" fmla="val 2737"/>
            </a:avLst>
          </a:prstGeom>
          <a:solidFill>
            <a:srgbClr val="2E2E2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" name="Text 10"/>
          <p:cNvSpPr txBox="1"/>
          <p:nvPr/>
        </p:nvSpPr>
        <p:spPr>
          <a:xfrm>
            <a:off x="812678" y="4598392"/>
            <a:ext cx="88225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4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Academics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812678" y="4907160"/>
            <a:ext cx="434053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Courses, faculty, syllabi, timetables, and CGPA calculator in one place</a:t>
            </a:r>
          </a:p>
        </p:txBody>
      </p:sp>
      <p:sp>
        <p:nvSpPr>
          <p:cNvPr id="41" name="Shape 12"/>
          <p:cNvSpPr/>
          <p:nvPr/>
        </p:nvSpPr>
        <p:spPr>
          <a:xfrm>
            <a:off x="661474" y="5397003"/>
            <a:ext cx="6296862" cy="828875"/>
          </a:xfrm>
          <a:prstGeom prst="roundRect">
            <a:avLst>
              <a:gd name="adj" fmla="val 2737"/>
            </a:avLst>
          </a:prstGeom>
          <a:solidFill>
            <a:srgbClr val="2E2E2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" name="Text 13"/>
          <p:cNvSpPr txBox="1"/>
          <p:nvPr/>
        </p:nvSpPr>
        <p:spPr>
          <a:xfrm>
            <a:off x="812678" y="5548212"/>
            <a:ext cx="18111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4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Societies &amp; Reminders</a:t>
            </a:r>
          </a:p>
        </p:txBody>
      </p:sp>
      <p:sp>
        <p:nvSpPr>
          <p:cNvPr id="43" name="Text 14"/>
          <p:cNvSpPr txBox="1"/>
          <p:nvPr/>
        </p:nvSpPr>
        <p:spPr>
          <a:xfrm>
            <a:off x="812678" y="5856982"/>
            <a:ext cx="457136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Consolidated club info, announcements, and personalized date reminders</a:t>
            </a:r>
          </a:p>
        </p:txBody>
      </p:sp>
      <p:sp>
        <p:nvSpPr>
          <p:cNvPr id="44" name="Rectangle"/>
          <p:cNvSpPr/>
          <p:nvPr/>
        </p:nvSpPr>
        <p:spPr>
          <a:xfrm>
            <a:off x="11083225" y="6526813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4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14666" y="0"/>
            <a:ext cx="456084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 txBox="1"/>
          <p:nvPr/>
        </p:nvSpPr>
        <p:spPr>
          <a:xfrm>
            <a:off x="661473" y="559294"/>
            <a:ext cx="2491967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200">
                <a:solidFill>
                  <a:srgbClr val="FBF3FA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Query Bot Workflow</a:t>
            </a:r>
          </a:p>
        </p:txBody>
      </p:sp>
      <p:sp>
        <p:nvSpPr>
          <p:cNvPr id="48" name="Text 1"/>
          <p:cNvSpPr txBox="1"/>
          <p:nvPr/>
        </p:nvSpPr>
        <p:spPr>
          <a:xfrm>
            <a:off x="661474" y="1059458"/>
            <a:ext cx="495863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9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A 7-step RAG pipeline transforms a student's question into a verified, institution-grounded answer.</a:t>
            </a:r>
          </a:p>
        </p:txBody>
      </p:sp>
      <p:sp>
        <p:nvSpPr>
          <p:cNvPr id="49" name="Text 2"/>
          <p:cNvSpPr txBox="1"/>
          <p:nvPr/>
        </p:nvSpPr>
        <p:spPr>
          <a:xfrm>
            <a:off x="8584092" y="1367579"/>
            <a:ext cx="1398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0" name="Shape 3"/>
          <p:cNvSpPr/>
          <p:nvPr/>
        </p:nvSpPr>
        <p:spPr>
          <a:xfrm>
            <a:off x="8584092" y="1548507"/>
            <a:ext cx="2952380" cy="12702"/>
          </a:xfrm>
          <a:prstGeom prst="rect">
            <a:avLst/>
          </a:prstGeom>
          <a:solidFill>
            <a:srgbClr val="FF6BD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" name="Text 4"/>
          <p:cNvSpPr txBox="1"/>
          <p:nvPr/>
        </p:nvSpPr>
        <p:spPr>
          <a:xfrm>
            <a:off x="8584092" y="1631452"/>
            <a:ext cx="13873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Student asks question</a:t>
            </a:r>
          </a:p>
        </p:txBody>
      </p:sp>
      <p:sp>
        <p:nvSpPr>
          <p:cNvPr id="52" name="Text 5"/>
          <p:cNvSpPr txBox="1"/>
          <p:nvPr/>
        </p:nvSpPr>
        <p:spPr>
          <a:xfrm>
            <a:off x="8584092" y="1881483"/>
            <a:ext cx="208221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9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Via the web interface in natural language</a:t>
            </a:r>
          </a:p>
        </p:txBody>
      </p:sp>
      <p:sp>
        <p:nvSpPr>
          <p:cNvPr id="53" name="Text 6"/>
          <p:cNvSpPr txBox="1"/>
          <p:nvPr/>
        </p:nvSpPr>
        <p:spPr>
          <a:xfrm>
            <a:off x="8584092" y="2188317"/>
            <a:ext cx="1398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4" name="Shape 7"/>
          <p:cNvSpPr/>
          <p:nvPr/>
        </p:nvSpPr>
        <p:spPr>
          <a:xfrm>
            <a:off x="8584092" y="2369243"/>
            <a:ext cx="2952380" cy="12702"/>
          </a:xfrm>
          <a:prstGeom prst="rect">
            <a:avLst/>
          </a:prstGeom>
          <a:solidFill>
            <a:srgbClr val="FF6BD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" name="Text 8"/>
          <p:cNvSpPr txBox="1"/>
          <p:nvPr/>
        </p:nvSpPr>
        <p:spPr>
          <a:xfrm>
            <a:off x="8584092" y="2452191"/>
            <a:ext cx="1488214" cy="167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Frontend → Django API</a:t>
            </a:r>
          </a:p>
        </p:txBody>
      </p:sp>
      <p:sp>
        <p:nvSpPr>
          <p:cNvPr id="56" name="Text 9"/>
          <p:cNvSpPr txBox="1"/>
          <p:nvPr/>
        </p:nvSpPr>
        <p:spPr>
          <a:xfrm>
            <a:off x="8584092" y="2702223"/>
            <a:ext cx="19123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9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Query sent to backend for processing</a:t>
            </a:r>
          </a:p>
        </p:txBody>
      </p:sp>
      <p:sp>
        <p:nvSpPr>
          <p:cNvPr id="57" name="Text 10"/>
          <p:cNvSpPr txBox="1"/>
          <p:nvPr/>
        </p:nvSpPr>
        <p:spPr>
          <a:xfrm>
            <a:off x="8584092" y="3009056"/>
            <a:ext cx="1398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8" name="Shape 11"/>
          <p:cNvSpPr/>
          <p:nvPr/>
        </p:nvSpPr>
        <p:spPr>
          <a:xfrm>
            <a:off x="8584092" y="3189982"/>
            <a:ext cx="2952380" cy="12702"/>
          </a:xfrm>
          <a:prstGeom prst="rect">
            <a:avLst/>
          </a:prstGeom>
          <a:solidFill>
            <a:srgbClr val="FF6BD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9" name="Text 12"/>
          <p:cNvSpPr txBox="1"/>
          <p:nvPr/>
        </p:nvSpPr>
        <p:spPr>
          <a:xfrm>
            <a:off x="8584092" y="3272928"/>
            <a:ext cx="177539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RAG Pipeline embeds query</a:t>
            </a:r>
          </a:p>
        </p:txBody>
      </p:sp>
      <p:sp>
        <p:nvSpPr>
          <p:cNvPr id="60" name="Text 13"/>
          <p:cNvSpPr txBox="1"/>
          <p:nvPr/>
        </p:nvSpPr>
        <p:spPr>
          <a:xfrm>
            <a:off x="8584092" y="3522960"/>
            <a:ext cx="229345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9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Sentence Transformers convert text to vector</a:t>
            </a:r>
          </a:p>
        </p:txBody>
      </p:sp>
      <p:sp>
        <p:nvSpPr>
          <p:cNvPr id="61" name="Text 14"/>
          <p:cNvSpPr txBox="1"/>
          <p:nvPr/>
        </p:nvSpPr>
        <p:spPr>
          <a:xfrm>
            <a:off x="8584092" y="3829792"/>
            <a:ext cx="1398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2" name="Shape 15"/>
          <p:cNvSpPr/>
          <p:nvPr/>
        </p:nvSpPr>
        <p:spPr>
          <a:xfrm>
            <a:off x="8584092" y="4010719"/>
            <a:ext cx="2952380" cy="12702"/>
          </a:xfrm>
          <a:prstGeom prst="rect">
            <a:avLst/>
          </a:prstGeom>
          <a:solidFill>
            <a:srgbClr val="FF6BD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3" name="Text 16"/>
          <p:cNvSpPr txBox="1"/>
          <p:nvPr/>
        </p:nvSpPr>
        <p:spPr>
          <a:xfrm>
            <a:off x="8584092" y="4093666"/>
            <a:ext cx="17753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Semantic search in pgvector</a:t>
            </a:r>
          </a:p>
        </p:txBody>
      </p:sp>
      <p:sp>
        <p:nvSpPr>
          <p:cNvPr id="64" name="Text 17"/>
          <p:cNvSpPr txBox="1"/>
          <p:nvPr/>
        </p:nvSpPr>
        <p:spPr>
          <a:xfrm>
            <a:off x="8584092" y="4343698"/>
            <a:ext cx="19376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9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Finds most relevant document chunks</a:t>
            </a:r>
          </a:p>
        </p:txBody>
      </p:sp>
      <p:sp>
        <p:nvSpPr>
          <p:cNvPr id="65" name="Text 18"/>
          <p:cNvSpPr txBox="1"/>
          <p:nvPr/>
        </p:nvSpPr>
        <p:spPr>
          <a:xfrm>
            <a:off x="8584092" y="4650530"/>
            <a:ext cx="1398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6" name="Shape 19"/>
          <p:cNvSpPr/>
          <p:nvPr/>
        </p:nvSpPr>
        <p:spPr>
          <a:xfrm>
            <a:off x="8584092" y="4831457"/>
            <a:ext cx="2952380" cy="12702"/>
          </a:xfrm>
          <a:prstGeom prst="rect">
            <a:avLst/>
          </a:prstGeom>
          <a:solidFill>
            <a:srgbClr val="FF6BD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" name="Text 20"/>
          <p:cNvSpPr txBox="1"/>
          <p:nvPr/>
        </p:nvSpPr>
        <p:spPr>
          <a:xfrm>
            <a:off x="8584092" y="4914403"/>
            <a:ext cx="2004244" cy="167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Context + query → GPT-4o-mini</a:t>
            </a:r>
          </a:p>
        </p:txBody>
      </p:sp>
      <p:sp>
        <p:nvSpPr>
          <p:cNvPr id="68" name="Text 21"/>
          <p:cNvSpPr txBox="1"/>
          <p:nvPr/>
        </p:nvSpPr>
        <p:spPr>
          <a:xfrm>
            <a:off x="8584092" y="5164435"/>
            <a:ext cx="221749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9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LLM generates a grounded, verified answer</a:t>
            </a:r>
          </a:p>
        </p:txBody>
      </p:sp>
      <p:sp>
        <p:nvSpPr>
          <p:cNvPr id="69" name="Text 22"/>
          <p:cNvSpPr txBox="1"/>
          <p:nvPr/>
        </p:nvSpPr>
        <p:spPr>
          <a:xfrm>
            <a:off x="8584092" y="5471267"/>
            <a:ext cx="1398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70" name="Shape 23"/>
          <p:cNvSpPr/>
          <p:nvPr/>
        </p:nvSpPr>
        <p:spPr>
          <a:xfrm>
            <a:off x="8584092" y="5652194"/>
            <a:ext cx="2952380" cy="12702"/>
          </a:xfrm>
          <a:prstGeom prst="rect">
            <a:avLst/>
          </a:prstGeom>
          <a:solidFill>
            <a:srgbClr val="FF6BD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" name="Text 24"/>
          <p:cNvSpPr txBox="1"/>
          <p:nvPr/>
        </p:nvSpPr>
        <p:spPr>
          <a:xfrm>
            <a:off x="8584092" y="5735141"/>
            <a:ext cx="108425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Answer delivered</a:t>
            </a:r>
          </a:p>
        </p:txBody>
      </p:sp>
      <p:sp>
        <p:nvSpPr>
          <p:cNvPr id="72" name="Text 25"/>
          <p:cNvSpPr txBox="1"/>
          <p:nvPr/>
        </p:nvSpPr>
        <p:spPr>
          <a:xfrm>
            <a:off x="8584092" y="5985173"/>
            <a:ext cx="255425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9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Location queries rendered on the 2D campus map</a:t>
            </a:r>
          </a:p>
        </p:txBody>
      </p:sp>
      <p:pic>
        <p:nvPicPr>
          <p:cNvPr id="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73" y="1735953"/>
            <a:ext cx="8452310" cy="432738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Rectangle"/>
          <p:cNvSpPr/>
          <p:nvPr/>
        </p:nvSpPr>
        <p:spPr>
          <a:xfrm>
            <a:off x="11083225" y="6526813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 txBox="1"/>
          <p:nvPr/>
        </p:nvSpPr>
        <p:spPr>
          <a:xfrm>
            <a:off x="661473" y="519806"/>
            <a:ext cx="400948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100">
                <a:solidFill>
                  <a:srgbClr val="FBF3FA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How the Project Works</a:t>
            </a:r>
          </a:p>
        </p:txBody>
      </p:sp>
      <p:sp>
        <p:nvSpPr>
          <p:cNvPr id="77" name="Text 1"/>
          <p:cNvSpPr txBox="1"/>
          <p:nvPr/>
        </p:nvSpPr>
        <p:spPr>
          <a:xfrm>
            <a:off x="4606809" y="1483420"/>
            <a:ext cx="150581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500">
                <a:solidFill>
                  <a:srgbClr val="FBF3FA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Technology Stack</a:t>
            </a:r>
          </a:p>
        </p:txBody>
      </p:sp>
      <p:pic>
        <p:nvPicPr>
          <p:cNvPr id="78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06809" y="1879400"/>
            <a:ext cx="2221653" cy="1430935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Text 2"/>
          <p:cNvSpPr txBox="1"/>
          <p:nvPr/>
        </p:nvSpPr>
        <p:spPr>
          <a:xfrm>
            <a:off x="4860207" y="2056606"/>
            <a:ext cx="77516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5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80" name="Text 3"/>
          <p:cNvSpPr txBox="1"/>
          <p:nvPr/>
        </p:nvSpPr>
        <p:spPr>
          <a:xfrm>
            <a:off x="4860208" y="2436017"/>
            <a:ext cx="1791051" cy="697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1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React.js (Vite) + Tailwind CSS — responsive student &amp; admin UI</a:t>
            </a:r>
          </a:p>
        </p:txBody>
      </p:sp>
      <p:pic>
        <p:nvPicPr>
          <p:cNvPr id="81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60716" y="1879400"/>
            <a:ext cx="2221752" cy="1430935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Text 4"/>
          <p:cNvSpPr txBox="1"/>
          <p:nvPr/>
        </p:nvSpPr>
        <p:spPr>
          <a:xfrm>
            <a:off x="7214113" y="2056606"/>
            <a:ext cx="75405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5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83" name="Text 5"/>
          <p:cNvSpPr txBox="1"/>
          <p:nvPr/>
        </p:nvSpPr>
        <p:spPr>
          <a:xfrm>
            <a:off x="7214113" y="2436017"/>
            <a:ext cx="1791152" cy="697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1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Django + DRF — auth, API, and RAG pipeline orchestration</a:t>
            </a:r>
          </a:p>
        </p:txBody>
      </p:sp>
      <p:pic>
        <p:nvPicPr>
          <p:cNvPr id="84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14721" y="1879400"/>
            <a:ext cx="2221752" cy="1430935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 6"/>
          <p:cNvSpPr txBox="1"/>
          <p:nvPr/>
        </p:nvSpPr>
        <p:spPr>
          <a:xfrm>
            <a:off x="9568119" y="2056606"/>
            <a:ext cx="82818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5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86" name="Text 7"/>
          <p:cNvSpPr txBox="1"/>
          <p:nvPr/>
        </p:nvSpPr>
        <p:spPr>
          <a:xfrm>
            <a:off x="9568119" y="2436017"/>
            <a:ext cx="1791152" cy="697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1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PostgreSQL + pgvector — stores embeddings for semantic search</a:t>
            </a:r>
          </a:p>
        </p:txBody>
      </p:sp>
      <p:pic>
        <p:nvPicPr>
          <p:cNvPr id="87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06809" y="3442592"/>
            <a:ext cx="2221653" cy="1678089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ext 8"/>
          <p:cNvSpPr txBox="1"/>
          <p:nvPr/>
        </p:nvSpPr>
        <p:spPr>
          <a:xfrm>
            <a:off x="4860208" y="3619798"/>
            <a:ext cx="1791051" cy="494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sz="15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LLM &amp; Embeddings</a:t>
            </a:r>
          </a:p>
        </p:txBody>
      </p:sp>
      <p:sp>
        <p:nvSpPr>
          <p:cNvPr id="89" name="Text 9"/>
          <p:cNvSpPr txBox="1"/>
          <p:nvPr/>
        </p:nvSpPr>
        <p:spPr>
          <a:xfrm>
            <a:off x="4860208" y="4246364"/>
            <a:ext cx="1791051" cy="697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1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Sentence Transformers + OpenAI GPT-4o-mini + PyMuPDF</a:t>
            </a:r>
          </a:p>
        </p:txBody>
      </p:sp>
      <p:pic>
        <p:nvPicPr>
          <p:cNvPr id="90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60716" y="3442592"/>
            <a:ext cx="2221752" cy="1678089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10"/>
          <p:cNvSpPr txBox="1"/>
          <p:nvPr/>
        </p:nvSpPr>
        <p:spPr>
          <a:xfrm>
            <a:off x="7214113" y="3619798"/>
            <a:ext cx="1029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5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Deployment</a:t>
            </a:r>
          </a:p>
        </p:txBody>
      </p:sp>
      <p:sp>
        <p:nvSpPr>
          <p:cNvPr id="92" name="Text 11"/>
          <p:cNvSpPr txBox="1"/>
          <p:nvPr/>
        </p:nvSpPr>
        <p:spPr>
          <a:xfrm>
            <a:off x="7214113" y="3999210"/>
            <a:ext cx="1791152" cy="697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1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Vercel (frontend) · Render / Railway (backend &amp; database)</a:t>
            </a:r>
          </a:p>
        </p:txBody>
      </p:sp>
      <p:sp>
        <p:nvSpPr>
          <p:cNvPr id="93" name="Shape 12"/>
          <p:cNvSpPr/>
          <p:nvPr/>
        </p:nvSpPr>
        <p:spPr>
          <a:xfrm>
            <a:off x="4606809" y="5269507"/>
            <a:ext cx="6929663" cy="781846"/>
          </a:xfrm>
          <a:prstGeom prst="roundRect">
            <a:avLst>
              <a:gd name="adj" fmla="val 3034"/>
            </a:avLst>
          </a:prstGeom>
          <a:solidFill>
            <a:srgbClr val="80005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94" name="Image 6" descr="Imag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64959" y="5467944"/>
            <a:ext cx="197641" cy="158157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 13"/>
          <p:cNvSpPr txBox="1"/>
          <p:nvPr/>
        </p:nvSpPr>
        <p:spPr>
          <a:xfrm>
            <a:off x="5120748" y="5428057"/>
            <a:ext cx="6257573" cy="464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i="1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Every answer is grounded in retrieved institutional data — Athena never responds without verified context.</a:t>
            </a:r>
          </a:p>
        </p:txBody>
      </p:sp>
      <p:sp>
        <p:nvSpPr>
          <p:cNvPr id="96" name="Rectangle"/>
          <p:cNvSpPr/>
          <p:nvPr/>
        </p:nvSpPr>
        <p:spPr>
          <a:xfrm>
            <a:off x="11083225" y="6526813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97" name="workflow.png" descr="workflow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60002" y="1876025"/>
            <a:ext cx="4037352" cy="34584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 txBox="1"/>
          <p:nvPr/>
        </p:nvSpPr>
        <p:spPr>
          <a:xfrm>
            <a:off x="661474" y="753465"/>
            <a:ext cx="6033635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500">
                <a:solidFill>
                  <a:srgbClr val="FBF3FA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What Makes Athena Different?</a:t>
            </a:r>
          </a:p>
        </p:txBody>
      </p:sp>
      <p:sp>
        <p:nvSpPr>
          <p:cNvPr id="100" name="Text 1"/>
          <p:cNvSpPr txBox="1"/>
          <p:nvPr/>
        </p:nvSpPr>
        <p:spPr>
          <a:xfrm>
            <a:off x="661474" y="1655763"/>
            <a:ext cx="844734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Athena is not just another chatbot — it's a system-level integration purpose-built for educational institutions.</a:t>
            </a:r>
          </a:p>
        </p:txBody>
      </p:sp>
      <p:pic>
        <p:nvPicPr>
          <p:cNvPr id="10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1474" y="2127746"/>
            <a:ext cx="359066" cy="35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ext 2"/>
          <p:cNvSpPr txBox="1"/>
          <p:nvPr/>
        </p:nvSpPr>
        <p:spPr>
          <a:xfrm>
            <a:off x="1233752" y="2189458"/>
            <a:ext cx="4755440" cy="560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sz="17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Grounded Answers — Zero Hallucinations</a:t>
            </a:r>
          </a:p>
        </p:txBody>
      </p:sp>
      <p:sp>
        <p:nvSpPr>
          <p:cNvPr id="103" name="Text 3"/>
          <p:cNvSpPr txBox="1"/>
          <p:nvPr/>
        </p:nvSpPr>
        <p:spPr>
          <a:xfrm>
            <a:off x="1233752" y="2852735"/>
            <a:ext cx="4755440" cy="56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0000"/>
              </a:lnSpc>
              <a:defRPr sz="14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Every response is verified against institutional data, unlike generic ChatGPT which can fabricate information.</a:t>
            </a:r>
          </a:p>
        </p:txBody>
      </p:sp>
      <p:pic>
        <p:nvPicPr>
          <p:cNvPr id="10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02405" y="2127746"/>
            <a:ext cx="359066" cy="35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 4"/>
          <p:cNvSpPr txBox="1"/>
          <p:nvPr/>
        </p:nvSpPr>
        <p:spPr>
          <a:xfrm>
            <a:off x="6774684" y="2189458"/>
            <a:ext cx="230453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7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Multi-College Scalability</a:t>
            </a:r>
          </a:p>
        </p:txBody>
      </p:sp>
      <p:sp>
        <p:nvSpPr>
          <p:cNvPr id="106" name="Text 5"/>
          <p:cNvSpPr txBox="1"/>
          <p:nvPr/>
        </p:nvSpPr>
        <p:spPr>
          <a:xfrm>
            <a:off x="6774684" y="2572246"/>
            <a:ext cx="4755537" cy="84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0000"/>
              </a:lnSpc>
              <a:defRPr sz="14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Each college maintains its own independent knowledge base — onboarding a new institution requires no platform changes.</a:t>
            </a:r>
          </a:p>
        </p:txBody>
      </p:sp>
      <p:pic>
        <p:nvPicPr>
          <p:cNvPr id="10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1474" y="3754041"/>
            <a:ext cx="359066" cy="35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 6"/>
          <p:cNvSpPr txBox="1"/>
          <p:nvPr/>
        </p:nvSpPr>
        <p:spPr>
          <a:xfrm>
            <a:off x="1233753" y="3815755"/>
            <a:ext cx="187315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7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Student Verification</a:t>
            </a:r>
          </a:p>
        </p:txBody>
      </p:sp>
      <p:sp>
        <p:nvSpPr>
          <p:cNvPr id="109" name="Text 7"/>
          <p:cNvSpPr txBox="1"/>
          <p:nvPr/>
        </p:nvSpPr>
        <p:spPr>
          <a:xfrm>
            <a:off x="1233752" y="4198540"/>
            <a:ext cx="4755440" cy="560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0000"/>
              </a:lnSpc>
              <a:defRPr sz="14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Institutional email verification ensures only legitimate students access college-specific data.</a:t>
            </a:r>
          </a:p>
        </p:txBody>
      </p:sp>
      <p:pic>
        <p:nvPicPr>
          <p:cNvPr id="110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02405" y="3754041"/>
            <a:ext cx="359066" cy="35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 8"/>
          <p:cNvSpPr txBox="1"/>
          <p:nvPr/>
        </p:nvSpPr>
        <p:spPr>
          <a:xfrm>
            <a:off x="6774684" y="3815755"/>
            <a:ext cx="30127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7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Easy Updates — No Retraining</a:t>
            </a:r>
          </a:p>
        </p:txBody>
      </p:sp>
      <p:sp>
        <p:nvSpPr>
          <p:cNvPr id="112" name="Text 9"/>
          <p:cNvSpPr txBox="1"/>
          <p:nvPr/>
        </p:nvSpPr>
        <p:spPr>
          <a:xfrm>
            <a:off x="6774684" y="4198540"/>
            <a:ext cx="4755537" cy="560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0000"/>
              </a:lnSpc>
              <a:defRPr sz="14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Admins update the knowledge base via Django Admin; the LLM never needs to be retrained when data changes.</a:t>
            </a:r>
          </a:p>
        </p:txBody>
      </p:sp>
      <p:pic>
        <p:nvPicPr>
          <p:cNvPr id="113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61474" y="5099844"/>
            <a:ext cx="359066" cy="35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 10"/>
          <p:cNvSpPr txBox="1"/>
          <p:nvPr/>
        </p:nvSpPr>
        <p:spPr>
          <a:xfrm>
            <a:off x="1233752" y="5161557"/>
            <a:ext cx="165672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7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Semantic Search</a:t>
            </a:r>
          </a:p>
        </p:txBody>
      </p:sp>
      <p:sp>
        <p:nvSpPr>
          <p:cNvPr id="115" name="Text 11"/>
          <p:cNvSpPr txBox="1"/>
          <p:nvPr/>
        </p:nvSpPr>
        <p:spPr>
          <a:xfrm>
            <a:off x="1233752" y="5544344"/>
            <a:ext cx="4755440" cy="56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0000"/>
              </a:lnSpc>
              <a:defRPr sz="14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RAG pipeline finds relevant info even when phrased differently — far superior to keyword search portals.</a:t>
            </a:r>
          </a:p>
        </p:txBody>
      </p:sp>
      <p:pic>
        <p:nvPicPr>
          <p:cNvPr id="116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202405" y="5099844"/>
            <a:ext cx="359066" cy="35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12"/>
          <p:cNvSpPr txBox="1"/>
          <p:nvPr/>
        </p:nvSpPr>
        <p:spPr>
          <a:xfrm>
            <a:off x="6774684" y="5161557"/>
            <a:ext cx="272473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700">
                <a:solidFill>
                  <a:srgbClr val="E0D6DE"/>
                </a:solidFill>
                <a:latin typeface="Fira Mono Medium"/>
                <a:ea typeface="Fira Mono Medium"/>
                <a:cs typeface="Fira Mono Medium"/>
                <a:sym typeface="Fira Mono Medium"/>
              </a:defRPr>
            </a:lvl1pPr>
          </a:lstStyle>
          <a:p>
            <a:pPr/>
            <a:r>
              <a:t>Campus-Specific Integration</a:t>
            </a:r>
          </a:p>
        </p:txBody>
      </p:sp>
      <p:sp>
        <p:nvSpPr>
          <p:cNvPr id="118" name="Text 13"/>
          <p:cNvSpPr txBox="1"/>
          <p:nvPr/>
        </p:nvSpPr>
        <p:spPr>
          <a:xfrm>
            <a:off x="6774684" y="5544344"/>
            <a:ext cx="4755537" cy="56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0000"/>
              </a:lnSpc>
              <a:defRPr sz="14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</a:lstStyle>
          <a:p>
            <a:pPr/>
            <a:r>
              <a:t>Navigation, academics, societies, and reminders — all unified in one platform, not just a chatbot.</a:t>
            </a:r>
          </a:p>
        </p:txBody>
      </p:sp>
      <p:sp>
        <p:nvSpPr>
          <p:cNvPr id="119" name="Rectangle"/>
          <p:cNvSpPr/>
          <p:nvPr/>
        </p:nvSpPr>
        <p:spPr>
          <a:xfrm>
            <a:off x="11083225" y="6526813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"/>
          <p:cNvSpPr/>
          <p:nvPr/>
        </p:nvSpPr>
        <p:spPr>
          <a:xfrm>
            <a:off x="11083225" y="6526813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" name="Rectangle"/>
          <p:cNvSpPr/>
          <p:nvPr/>
        </p:nvSpPr>
        <p:spPr>
          <a:xfrm>
            <a:off x="11210225" y="6653813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3" name="Rectangle"/>
          <p:cNvSpPr/>
          <p:nvPr/>
        </p:nvSpPr>
        <p:spPr>
          <a:xfrm>
            <a:off x="20288276" y="6862334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4" name="Rectangle"/>
          <p:cNvSpPr/>
          <p:nvPr/>
        </p:nvSpPr>
        <p:spPr>
          <a:xfrm>
            <a:off x="20415276" y="6989334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5" name="Rectangle"/>
          <p:cNvSpPr/>
          <p:nvPr/>
        </p:nvSpPr>
        <p:spPr>
          <a:xfrm>
            <a:off x="20542276" y="7116334"/>
            <a:ext cx="1059145" cy="32038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26" name="pasted-movie.png" descr="pasted-movie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5458" y="5757479"/>
            <a:ext cx="897274" cy="897275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HANK YOU"/>
          <p:cNvSpPr txBox="1"/>
          <p:nvPr/>
        </p:nvSpPr>
        <p:spPr>
          <a:xfrm>
            <a:off x="1981884" y="2646680"/>
            <a:ext cx="7792130" cy="156463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9700">
                <a:solidFill>
                  <a:srgbClr val="6F1456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28" name="Text"/>
          <p:cNvSpPr txBox="1"/>
          <p:nvPr/>
        </p:nvSpPr>
        <p:spPr>
          <a:xfrm>
            <a:off x="1291931" y="6055331"/>
            <a:ext cx="150722" cy="1270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/>
          <a:p>
            <a:pPr>
              <a:defRPr sz="200"/>
            </a:pPr>
          </a:p>
        </p:txBody>
      </p:sp>
      <p:pic>
        <p:nvPicPr>
          <p:cNvPr id="129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11650" y="2603500"/>
            <a:ext cx="3810000" cy="190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rcRect l="18783" t="20742" r="15750" b="24591"/>
          <a:stretch>
            <a:fillRect/>
          </a:stretch>
        </p:blipFill>
        <p:spPr>
          <a:xfrm>
            <a:off x="9759831" y="2023665"/>
            <a:ext cx="1893223" cy="28104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